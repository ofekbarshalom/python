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5143500" cy="9144000"/>
  <p:embeddedFontLst>
    <p:embeddedFont>
      <p:font typeface="Arial Black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JdMguFR/yL7SQMcXRgcAky3/r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CB7BFD-A262-4EF5-8AB7-482004B54266}">
  <a:tblStyle styleId="{BACB7BFD-A262-4EF5-8AB7-482004B5426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rialBlack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d4a8321c6a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d4a8321c6a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d4a8321c6a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d4a8321c6a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d4a8321c6a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d4a8321c6a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d4a8321c6a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d4a8321c6a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g3d4a8321c6a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d4a8321c6a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d4a8321c6a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d4a8321c6a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d4a8321c6a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d4a8321c6a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d4a8321c6a_1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4a8321c6a_1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4a8321c6a_1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d4a8321c6a_1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4a8321c6a_1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4a8321c6a_1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d4a8321c6a_1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4a8321c6a_1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4a8321c6a_1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4a8321c6a_1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4a8321c6a_1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4a8321c6a_1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4a8321c6a_1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4a8321c6a_1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4a8321c6a_1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4a8321c6a_1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4a8321c6a_1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4a8321c6a_1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d4a8321c6a_1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a8321c6a_1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4a8321c6a_1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4a8321c6a_1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a8321c6a_1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4a8321c6a_1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d4a8321c6a_1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a8321c6a_1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4a8321c6a_1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4a8321c6a_1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a8321c6a_1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4a8321c6a_1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4a8321c6a_1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a8321c6a_1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4a8321c6a_1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4a8321c6a_1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4a8321c6a_1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4a8321c6a_1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d4a8321c6a_1_1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4a8321c6a_1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4a8321c6a_1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4a8321c6a_1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4a8321c6a_1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4a8321c6a_1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4a8321c6a_1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a8321c6a_1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4a8321c6a_1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4a8321c6a_1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4a8321c6a_1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4a8321c6a_1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4a8321c6a_1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5154645b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5154645b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5154645b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Adversarial Agent-Learning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for Cybersecurity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Comparison of Algorithms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Paper Review &amp; Experimental Reproduction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2743200" y="3474720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Name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Advanced Topics in Cyber Defense,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3">
            <a:alphaModFix/>
          </a:blip>
          <a:srcRect b="169" l="0" r="0" t="169"/>
          <a:stretch/>
        </p:blipFill>
        <p:spPr>
          <a:xfrm>
            <a:off x="0" y="28568"/>
            <a:ext cx="9144000" cy="509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agenda slide as a vertical numbered timeline infographic. Replace the plain list with a thin navy vertical line on the left with 10 circular nodes. Each node connects via a thin leader line to a white rounded text box with the section name and timing. Light gray (#F0F2F5) box fills. Minimalist line art style, white background." id="29" name="Google Shape;29;g3d4a8321c6a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APT slide as a horizontal flow infographic. Replace bullets with five connected rounded boxes showing the kill chain stages (Reconnaissance → Compromise → Lateral Movement → Escalation → Exfiltration), each with a minimal line art icon inside. Connect them with thin red (#E74C3C) arrow lines. Light gray background, dark navy text, clean callout descriptions below each stage." id="35" name="Google Shape;35;g3d4a8321c6a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slide as a centered infographic. Replace text with a central circular coevolution diagram — red &quot;Attacker Adapts&quot; arrow curving clockwise and blue &quot;Defender Adapts&quot; arrow counter-clockwise forming a cycle, with &quot;Arms Race&quot; in the center. Place the research question in an italicized callout box below with a thin leader line to the source citation. White background, wireframe style." id="41" name="Google Shape;41;g3d4a8321c6a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slide as a technical diagram. Replace bullets with a central wireframe Agent-Environment loop (four rounded boxes connected by arrows in a cycle). Add callout boxes on the right connected by thin leader lines listing the key concepts and formulas. Navy boxes, blue (#3498DB) arrows, light gray background, architectural blueprint style." id="47" name="Google Shape;47;g3d4a8321c6a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A2C slide as a split-panel technical diagram with red (#E74C3C) accents. Left panel: &quot;Actor / Policy NN&quot; showing input → hidden layers → output flow. Right panel: &quot;Critic / Value NN&quot; same style. Connect both with &quot;Advantage: A(s,a) = R - V(s)&quot; at the bottom. Add formula callouts via thin leader lines. Light gray panel fills, white background." id="53" name="Google Shape;53;g3d4a8321c6a_1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CEM slide as a four-stage horizontal cycle flow with blue (#3498DB) accents. Four rounded boxes (Sample → Evaluate → Select → Update) connected by arrows with a curved loop-back arrow. Add the update formula in a callout box below. Add a &quot;No gradients needed&quot; highlight box. White background, light gray box fills, clean process infographic style.&#10;&#10;" id="59" name="Google Shape;59;g3d4a8321c6a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PPO " id="65" name="Google Shape;65;g3d4a8321c6a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103" y="0"/>
            <a:ext cx="92222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it in a size of the slide" id="71" name="Google Shape;71;g3d4a8321c6a_1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126" y="0"/>
            <a:ext cx="92402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technical network diagram slide titled &quot;SNAPT — Network Topology&quot; featuring a central wireframe illustration of three connected nodes in a horizontal chain. Node d0: red-bordered rounded box labeled &quot;d0 (V, 0, 0.5)&quot; with callout &quot;Entry Point — Internet-facing&quot;. Node d1: navy-bordered box labeled &quot;d1 (S, 0, 0.5)&quot; with callout &quot;Stepping Stone&quot;. Node d2: green-bordered box with gold accent labeled &quot;d2 (S, 1, 0.5)&quot; with callout &quot;Target — Value = 1&quot;. Nodes connected by thick arrow lines. Below, add a legend: &quot;S = Security State, V = Value, P = Exploit Probability&quot;. White background, thin leader lines connecting callouts. Clean architectural blueprint style." id="77" name="Google Shape;77;g3d4a8321c6a_1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two-panel infographic slide titled &quot;SNAPT — Game Rules&quot; with a vertical divider. Left panel &quot;Attacker&quot; with red (#E74C3C) accent bar at top: bullet callouts for &quot;3 actions (exploit d0, d1, d2)&quot;, &quot;Success probability = pᵢ&quot;, &quot;State escalation: S → V → C&quot;, &quot;20 moves per game&quot;. Right panel &quot;Defender&quot; with blue (#3498DB) accent bar: &quot;6 actions (detect + secure)&quot;, &quot;Detect: reverts last-turn compromise (p=0.7)&quot;, &quot;Secure: reduces pᵢ by 0.1 (max 3×)&quot;, &quot;20 moves per game&quot;. Bottom center: a highlighted rounded box: &quot;Reward R = Σ values of compromised devices. R ≥ 1 → Attacker wins.&quot; White background, light gray panel fills, clean minimalist style." id="83" name="Google Shape;83;g3d4a8321c6a_1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Neural Network Architecture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98DB"/>
                </a:solidFill>
                <a:latin typeface="Calibri"/>
                <a:ea typeface="Calibri"/>
                <a:cs typeface="Calibri"/>
                <a:sym typeface="Calibri"/>
              </a:rPr>
              <a:t>Defender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ofekb/Documents/Courses/Third Year/Advanced topics in cyber defense/RedAI/paper/figures/figure3_defender_nn.png" id="91" name="Google Shape;91;p12"/>
          <p:cNvPicPr preferRelativeResize="0"/>
          <p:nvPr/>
        </p:nvPicPr>
        <p:blipFill rotWithShape="1">
          <a:blip r:embed="rId3">
            <a:alphaModFix/>
          </a:blip>
          <a:srcRect b="0" l="0" r="0" t="16444"/>
          <a:stretch/>
        </p:blipFill>
        <p:spPr>
          <a:xfrm>
            <a:off x="274325" y="1731275"/>
            <a:ext cx="4114800" cy="167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Attacker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2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Both networks: 2 hidden layers, 64 units each, ReLU activation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2" title="figure4_attacker_n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925" y="2130653"/>
            <a:ext cx="4114801" cy="872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infographic slide titled &quot;Training Setup&quot; with two sections. Top section: a wireframe coevolution diagram showing &quot;Attacker Agent&quot; (red box) and &quot;Defender Agent&quot; (blue box) facing each other, both connected to a central &quot;SNAPT Environment&quot; box, with circular arrows showing &quot;Play → Reward → Update → Repeat&quot;. Bottom section: a clean data table with light gray header row, showing hyperparameters — columns: Parameter, A2C (red header), CEM (blue header). Rows: Learning rate (0.001 / N/A), Population (1 / N=8, K=4), Iterations (2000 / 2000), Time (~17 min / ~6 min), Eval games (100 / 100). White background, minimalist style." id="100" name="Google Shape;100;g3d4a8321c6a_1_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infographic slide titled &quot;Paper's Key Findings&quot; with five horizontal card-style callout boxes stacked vertically. Each card has a colored square marker on the left and bold text: (1) Red square: &quot;A2C = 2nd-best attacker (mean 62.5 wins). AZ-ES is best (68.0).&quot; (2) Blue square: &quot;CEM = best defender (only 17.2 mean opponent wins).&quot; (3) Purple square: &quot;Hybrid A2C+FB-ES best overall on CyberBattleSim.&quot; (4) Navy square: &quot;Different algorithms converge to different strategies.&quot; (5) Gray square: &quot;AlphaZero effective but computationally expensive.&quot; Light gray card backgrounds, white slide background, clean minimalist typography." id="106" name="Google Shape;106;g3d4a8321c6a_1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infographic slide titled &quot;Our Implementation&quot; with a checklist-style layout. Six items with green (#27AE60) checkmark squares: &quot;Built SNAPT environment from scratch (Python + PyTorch)&quot;, &quot;Implemented A2C agent (gradient-based DRL)&quot;, &quot;Implemented CEM agent (gradient-free ES)&quot;, &quot;Coevolutionary training: attacker + defender simultaneously&quot;, &quot;2000 iterations, ~25 min total on consumer CPU&quot;, &quot;Random baseline for comparison&quot;. Bottom-right: a small rounded box with &quot;github.com/ofekbarshalom/RedAI-SNAPT&quot; in navy. White background, clean list style with light gray alternating row hints." id="112" name="Google Shape;112;g3d4a8321c6a_1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grey thing at the bottom " id="118" name="Google Shape;118;g3d4a8321c6a_1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Strategy Analysis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ofekb/Documents/Courses/Third Year/Advanced topics in cyber defense/RedAI/figures/action_heatmap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5840"/>
            <a:ext cx="8229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A2C attackers focus exploits on vulnerable entry node (d0)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CEM defenders distribute actions more evenly across nodes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Training Dynamics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ofekb/Documents/Courses/Third Year/Advanced topics in cyber defense/RedAI/figures/training_curves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05840"/>
            <a:ext cx="73152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A2C converges faster but shows more variance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3436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D3436"/>
                </a:solidFill>
                <a:latin typeface="Calibri"/>
                <a:ea typeface="Calibri"/>
                <a:cs typeface="Calibri"/>
                <a:sym typeface="Calibri"/>
              </a:rPr>
              <a:t>CEM is slower but produces more stable policies over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1B2A4A"/>
                </a:solidFill>
                <a:latin typeface="Arial Black"/>
                <a:ea typeface="Arial Black"/>
                <a:cs typeface="Arial Black"/>
                <a:sym typeface="Arial Black"/>
              </a:rPr>
              <a:t>Extension: Network Topologies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ofekb/Documents/Courses/Third Year/Advanced topics in cyber defense/RedAI/figures/topology_comparison.png"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5029200" cy="29260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19"/>
          <p:cNvGraphicFramePr/>
          <p:nvPr/>
        </p:nvGraphicFramePr>
        <p:xfrm>
          <a:off x="566928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{BACB7BFD-A262-4EF5-8AB7-482004B54266}</a:tableStyleId>
              </a:tblPr>
              <a:tblGrid>
                <a:gridCol w="1600200"/>
                <a:gridCol w="1600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Topology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Attacker Adv.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4C3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(3)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 (5)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43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343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Mesh (5)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High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1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Larger, more connected networks favor attackers — more paths to exploit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infographic slide titled &quot;Related Work&quot; with three horizontal card-style blocks stacked vertically. Each card has a colored left-side accent bar and content: (1) Navy accent: &quot;PenQuest (Luh et al., 2019)&quot; — Board-game APT simulation that inspired SNAPT. Richer tactical depth but harder to compare algorithms. (2) Red accent: &quot;Actor-Critic Survey (Grondman et al., 2012)&quot; — Foundation for A2C. Actor-Critic separation reduces variance. Confirmed by our results. (3) Blue accent: &quot;CEM-RL (Pourchot &amp; Sigaud, 2018)&quot; — Combines CEM + DRL. CEM explores, DRL exploits. Motivates hybrid methods. Light gray card backgrounds, white slide background, clean minimalist card layout." id="149" name="Google Shape;149;g3d4a8321c6a_1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it more alive but not too much" id="155" name="Google Shape;155;g3d4a8321c6a_1_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28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the left icon to red and the right to orange" id="161" name="Google Shape;161;g3d4a8321c6a_1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28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n infographic slide titled &quot;Cybersecurity Impact&quot; with a two-section horizontal layout. Left section &quot;SOC Applications&quot; with blue (#3498DB) accent: &quot;DRL Attackers → Automated Red Team&quot; and &quot;CEM Defenders → Automated Blue Team&quot; with a callout: &quot;CEM's population training produces naturally robust defenders&quot;. Right section &quot;Reality Gap&quot; with gray accent and warning style: three items — &quot;Partial observability needed&quot;, &quot;Continuous action spaces&quot;, &quot;Multi-objective optimization (security vs availability)&quot;. White background, clean infographic card layout." id="167" name="Google Shape;167;g3d4a8321c6a_1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future directions infographic slide titled &quot;Future Directions&quot; with six items arranged in a 2×3 grid of cards. Each card has a navy (#1B2A4A) arrow icon on the left, bold title, and one-line description: (1) &quot;Graph Neural Networks&quot; — topology-independent policies, (2) &quot;LLM + RL Hybrids&quot; — strategic planning + tactical execution, (3) &quot;POMDP Environments&quot; — realistic partial observability, (4) &quot;Multi-Objective Rewards&quot; — detection time, false positives, availability, (5) &quot;Transfer Learning&quot; — adapt across topologies, (6) &quot;Enterprise Scale&quot; — 1000+ node networks. White background, light gray card fills, clean grid layout." id="173" name="Google Shape;173;g3d4a8321c6a_1_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discussion slide with navy (#1B2A4A) background. Large centered white text: &quot;In a real SOC, would you want a single 'best' defensive policy, or a diverse ensemble of defenders? Why?&quot; Below in ice blue (#CADCFC): &quot;Hint: Think about how real security teams use multiple tools and layered approaches.&quot; Subtle question mark watermark. Same style as slide 25." id="179" name="Google Shape;179;g3d4a8321c6a_1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eate a discussion slide with navy (#1B2A4A) background. Large centered white text: &quot;Our topology extension shows larger networks overwhelmingly favor attackers. What implications does this have for enterprise network design?&quot; Below in ice blue (#CADCFC): &quot;Hint: Consider network segmentation, zero-trust architecture, and reducing connectivity.&quot; Subtle question mark watermark. Same style as slides 25-26." id="185" name="Google Shape;185;g3d4a8321c6a_1_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3628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github banner there" id="191" name="Google Shape;191;g3d5154645b1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2026-04-05T19:07:38Z</dcterms:created>
  <dc:creator>Student</dc:creator>
</cp:coreProperties>
</file>